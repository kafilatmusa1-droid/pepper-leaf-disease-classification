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7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234440" y="300355"/>
            <a:ext cx="7239635" cy="1803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84A98C"/>
                </a:solidFill>
                <a:latin typeface="Times New Roman" panose="02020603050405020304" charset="0"/>
                <a:cs typeface="Times New Roman" panose="02020603050405020304" charset="0"/>
              </a:rPr>
              <a:t>DEPARTMENT OF COMPUTER ENGINEERING</a:t>
            </a:r>
            <a:endParaRPr lang="en-US" sz="1600" b="1" kern="0" spc="200" dirty="0">
              <a:solidFill>
                <a:srgbClr val="84A98C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sz="1600" b="1" kern="0" spc="200" dirty="0">
                <a:solidFill>
                  <a:srgbClr val="84A98C"/>
                </a:solidFill>
                <a:latin typeface="Times New Roman" panose="02020603050405020304" charset="0"/>
                <a:cs typeface="Times New Roman" panose="02020603050405020304" charset="0"/>
              </a:rPr>
              <a:t>FACULTY OF ENGINEERING</a:t>
            </a:r>
            <a:endParaRPr lang="en-US" sz="1600" b="1" kern="0" spc="200" dirty="0">
              <a:solidFill>
                <a:srgbClr val="84A98C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sz="1600" b="1" kern="0" spc="200" dirty="0">
                <a:solidFill>
                  <a:srgbClr val="84A98C"/>
                </a:solidFill>
                <a:latin typeface="Times New Roman" panose="02020603050405020304" charset="0"/>
                <a:cs typeface="Times New Roman" panose="02020603050405020304" charset="0"/>
              </a:rPr>
              <a:t>AHMADU BELLO UNIVERSITY ZARIA</a:t>
            </a:r>
            <a:endParaRPr lang="en-US" sz="1600" b="1" kern="0" spc="200" dirty="0">
              <a:solidFill>
                <a:srgbClr val="84A98C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sz="1300" b="1" kern="0" spc="200" dirty="0">
              <a:solidFill>
                <a:srgbClr val="84A98C"/>
              </a:solidFill>
            </a:endParaRPr>
          </a:p>
          <a:p>
            <a:pPr marL="0" indent="0">
              <a:buNone/>
            </a:pPr>
            <a:endParaRPr lang="en-US" sz="1400" b="1" kern="0" spc="200" dirty="0">
              <a:solidFill>
                <a:srgbClr val="84A98C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sz="1400" b="1" kern="0" spc="200" dirty="0">
              <a:solidFill>
                <a:srgbClr val="84A98C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1400" b="1" kern="0" spc="200" dirty="0">
                <a:solidFill>
                  <a:srgbClr val="84A98C"/>
                </a:solidFill>
                <a:latin typeface="Times New Roman" panose="02020603050405020304" charset="0"/>
                <a:cs typeface="Times New Roman" panose="02020603050405020304" charset="0"/>
              </a:rPr>
              <a:t>COEN807 — TERM PROJECT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40080" y="2103120"/>
            <a:ext cx="8686800" cy="2377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Data-Driven Disease and Pest</a:t>
            </a:r>
            <a:endParaRPr lang="en-US" sz="4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Classification in Greenhouse</a:t>
            </a:r>
            <a:endParaRPr lang="en-US" sz="4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Bell Pepper Leaves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46177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84A98C"/>
                </a:solidFill>
                <a:latin typeface="Times New Roman" panose="02020603050405020304" charset="0"/>
                <a:cs typeface="Times New Roman" panose="02020603050405020304" charset="0"/>
              </a:rPr>
              <a:t>A supervised image classification approach using CNNs and transfer learning</a:t>
            </a:r>
            <a:endParaRPr lang="en-US" sz="17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40080" y="5664835"/>
            <a:ext cx="5486400" cy="82994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Kafilat Musa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P25EGCP8001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" name="Image 1" descr="/home/claude/report_assets/bacterial_cro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0" y="1280160"/>
            <a:ext cx="2743200" cy="2276856"/>
          </a:xfrm>
          <a:prstGeom prst="rect">
            <a:avLst/>
          </a:prstGeom>
        </p:spPr>
      </p:pic>
      <p:pic>
        <p:nvPicPr>
          <p:cNvPr id="8" name="Image 2" descr="/home/claude/report_assets/healthy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3657600"/>
            <a:ext cx="27432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4A98C"/>
                </a:solidFill>
              </a:rPr>
              <a:t>PROBLEM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</a:rPr>
              <a:t>Greenhouse pepper diseases threaten yield — and diagnosis doesn't scale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943600" cy="1645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A1A1A"/>
                </a:solidFill>
              </a:rPr>
              <a:t>Bell pepper crops grown in greenhouses are vulnerable to fast-spreading bacterial, fungal, and physiological conditions. 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A1A1A"/>
                </a:solidFill>
              </a:rPr>
              <a:t>Manual diagnosis by agronomists is accurate but slow, subjective, and difficult to scale across large operations.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59436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9319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3950208"/>
            <a:ext cx="4572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</a:rPr>
              <a:t>Research question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4480560"/>
            <a:ext cx="534924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1A1A1A"/>
                </a:solidFill>
              </a:rPr>
              <a:t>Given a photograph of a single bell pepper leaf, can a trained model correctly classify it into one of six health-status categories — automatically and reliably?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858000" y="182880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C6B63"/>
                </a:solidFill>
              </a:rPr>
              <a:t>Six target classes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58000" y="2331720"/>
            <a:ext cx="22860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022592" y="2496312"/>
            <a:ext cx="164592" cy="164592"/>
          </a:xfrm>
          <a:prstGeom prst="ellipse">
            <a:avLst/>
          </a:prstGeom>
          <a:solidFill>
            <a:srgbClr val="E07A5F"/>
          </a:solidFill>
        </p:spPr>
      </p:sp>
      <p:sp>
        <p:nvSpPr>
          <p:cNvPr id="12" name="Text 9"/>
          <p:cNvSpPr/>
          <p:nvPr/>
        </p:nvSpPr>
        <p:spPr>
          <a:xfrm>
            <a:off x="7022592" y="2715768"/>
            <a:ext cx="19659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</a:rPr>
              <a:t>Bacterial Spot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9326880" y="2331720"/>
            <a:ext cx="22860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9491472" y="2496312"/>
            <a:ext cx="164592" cy="164592"/>
          </a:xfrm>
          <a:prstGeom prst="ellipse">
            <a:avLst/>
          </a:prstGeom>
          <a:solidFill>
            <a:srgbClr val="E07A5F"/>
          </a:solidFill>
        </p:spPr>
      </p:sp>
      <p:sp>
        <p:nvSpPr>
          <p:cNvPr id="15" name="Text 12"/>
          <p:cNvSpPr/>
          <p:nvPr/>
        </p:nvSpPr>
        <p:spPr>
          <a:xfrm>
            <a:off x="9491472" y="2715768"/>
            <a:ext cx="19659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</a:rPr>
              <a:t>Cercospora Leaf Spot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858000" y="3520440"/>
            <a:ext cx="22860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022592" y="3685032"/>
            <a:ext cx="164592" cy="164592"/>
          </a:xfrm>
          <a:prstGeom prst="ellipse">
            <a:avLst/>
          </a:prstGeom>
          <a:solidFill>
            <a:srgbClr val="52796F"/>
          </a:solidFill>
        </p:spPr>
      </p:sp>
      <p:sp>
        <p:nvSpPr>
          <p:cNvPr id="18" name="Text 15"/>
          <p:cNvSpPr/>
          <p:nvPr/>
        </p:nvSpPr>
        <p:spPr>
          <a:xfrm>
            <a:off x="7022592" y="3904488"/>
            <a:ext cx="19659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</a:rPr>
              <a:t>Healthy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9326880" y="3520440"/>
            <a:ext cx="22860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491472" y="3685032"/>
            <a:ext cx="164592" cy="164592"/>
          </a:xfrm>
          <a:prstGeom prst="ellipse">
            <a:avLst/>
          </a:prstGeom>
          <a:solidFill>
            <a:srgbClr val="E07A5F"/>
          </a:solidFill>
        </p:spPr>
      </p:sp>
      <p:sp>
        <p:nvSpPr>
          <p:cNvPr id="21" name="Text 18"/>
          <p:cNvSpPr/>
          <p:nvPr/>
        </p:nvSpPr>
        <p:spPr>
          <a:xfrm>
            <a:off x="9491472" y="3904488"/>
            <a:ext cx="19659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</a:rPr>
              <a:t>Leaf Curl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858000" y="4709160"/>
            <a:ext cx="22860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022592" y="4873752"/>
            <a:ext cx="164592" cy="164592"/>
          </a:xfrm>
          <a:prstGeom prst="ellipse">
            <a:avLst/>
          </a:prstGeom>
          <a:solidFill>
            <a:srgbClr val="E07A5F"/>
          </a:solidFill>
        </p:spPr>
      </p:sp>
      <p:sp>
        <p:nvSpPr>
          <p:cNvPr id="24" name="Text 21"/>
          <p:cNvSpPr/>
          <p:nvPr/>
        </p:nvSpPr>
        <p:spPr>
          <a:xfrm>
            <a:off x="7022592" y="5093208"/>
            <a:ext cx="19659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</a:rPr>
              <a:t>Nutrition Deficiency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9326880" y="4709160"/>
            <a:ext cx="22860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9491472" y="4873752"/>
            <a:ext cx="164592" cy="164592"/>
          </a:xfrm>
          <a:prstGeom prst="ellipse">
            <a:avLst/>
          </a:prstGeom>
          <a:solidFill>
            <a:srgbClr val="E07A5F"/>
          </a:solidFill>
        </p:spPr>
      </p:sp>
      <p:sp>
        <p:nvSpPr>
          <p:cNvPr id="27" name="Text 24"/>
          <p:cNvSpPr/>
          <p:nvPr/>
        </p:nvSpPr>
        <p:spPr>
          <a:xfrm>
            <a:off x="9491472" y="5093208"/>
            <a:ext cx="19659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</a:rPr>
              <a:t>Powdery Mildew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11643055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3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4A98C"/>
                </a:solidFill>
              </a:rPr>
              <a:t>DATASET DESCRIPTION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</a:rPr>
              <a:t>Pepper Bell Leaf Disease — Mendeley Data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F7F5F0"/>
          </a:solidFill>
        </p:spPr>
      </p:sp>
      <p:sp>
        <p:nvSpPr>
          <p:cNvPr id="5" name="Text 3"/>
          <p:cNvSpPr/>
          <p:nvPr/>
        </p:nvSpPr>
        <p:spPr>
          <a:xfrm>
            <a:off x="548640" y="1691640"/>
            <a:ext cx="2514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4332"/>
                </a:solidFill>
              </a:rPr>
              <a:t>9,283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2514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63"/>
                </a:solidFill>
              </a:rPr>
              <a:t>Total images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60020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F7F5F0"/>
          </a:solidFill>
        </p:spPr>
      </p:sp>
      <p:sp>
        <p:nvSpPr>
          <p:cNvPr id="8" name="Text 6"/>
          <p:cNvSpPr/>
          <p:nvPr/>
        </p:nvSpPr>
        <p:spPr>
          <a:xfrm>
            <a:off x="3291840" y="1691640"/>
            <a:ext cx="2514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4332"/>
                </a:solidFill>
              </a:rPr>
              <a:t>6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91840" y="2286000"/>
            <a:ext cx="2514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63"/>
                </a:solidFill>
              </a:rPr>
              <a:t>Disease classes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60020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F7F5F0"/>
          </a:solidFill>
        </p:spPr>
      </p:sp>
      <p:sp>
        <p:nvSpPr>
          <p:cNvPr id="11" name="Text 9"/>
          <p:cNvSpPr/>
          <p:nvPr/>
        </p:nvSpPr>
        <p:spPr>
          <a:xfrm>
            <a:off x="6035040" y="1691640"/>
            <a:ext cx="2514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4332"/>
                </a:solidFill>
              </a:rPr>
              <a:t>224×224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35040" y="2286000"/>
            <a:ext cx="2514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63"/>
                </a:solidFill>
              </a:rPr>
              <a:t>Standardised size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778240" y="160020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F7F5F0"/>
          </a:solidFill>
        </p:spPr>
      </p:sp>
      <p:sp>
        <p:nvSpPr>
          <p:cNvPr id="14" name="Text 12"/>
          <p:cNvSpPr/>
          <p:nvPr/>
        </p:nvSpPr>
        <p:spPr>
          <a:xfrm>
            <a:off x="8778240" y="1691640"/>
            <a:ext cx="2514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4332"/>
                </a:solidFill>
              </a:rPr>
              <a:t>25:1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778240" y="2286000"/>
            <a:ext cx="2514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63"/>
                </a:solidFill>
              </a:rPr>
              <a:t>Max imbalance ratio</a:t>
            </a:r>
            <a:endParaRPr lang="en-US" sz="1200" dirty="0"/>
          </a:p>
        </p:txBody>
      </p:sp>
      <p:pic>
        <p:nvPicPr>
          <p:cNvPr id="16" name="Image 0" descr="/home/claude/report_assets/class_distribution_cle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017520"/>
            <a:ext cx="6400800" cy="3502152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7269480" y="3017520"/>
            <a:ext cx="4370832" cy="3502152"/>
          </a:xfrm>
          <a:prstGeom prst="roundRect">
            <a:avLst>
              <a:gd name="adj" fmla="val 2089"/>
            </a:avLst>
          </a:prstGeom>
          <a:solidFill>
            <a:srgbClr val="F7F5F0"/>
          </a:solidFill>
        </p:spPr>
      </p:sp>
      <p:sp>
        <p:nvSpPr>
          <p:cNvPr id="18" name="Text 15"/>
          <p:cNvSpPr/>
          <p:nvPr/>
        </p:nvSpPr>
        <p:spPr>
          <a:xfrm>
            <a:off x="7498080" y="3200400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</a:rPr>
              <a:t>Why this dataset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498080" y="3611880"/>
            <a:ext cx="3931920" cy="2743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</a:rPr>
              <a:t>Credible public source (CC BY 4.0, Mendeley Data)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</a:rPr>
              <a:t>Directly matches greenhouse crop monitoring domain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</a:rPr>
              <a:t>Realistic class imbalance reflecting field prevalence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</a:rPr>
              <a:t>Sized appropriately for CNN training without industrial compute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11643055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3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4A98C"/>
                </a:solidFill>
              </a:rPr>
              <a:t>DATASET DESCRIPTION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</a:rPr>
              <a:t>What the six conditions look like</a:t>
            </a:r>
            <a:endParaRPr lang="en-US" sz="2600" dirty="0"/>
          </a:p>
        </p:txBody>
      </p:sp>
      <p:pic>
        <p:nvPicPr>
          <p:cNvPr id="4" name="Image 0" descr="/home/claude/report_assets/sample_images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737360" y="1600200"/>
            <a:ext cx="8686800" cy="5166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643055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3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4A98C"/>
                </a:solidFill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</a:rPr>
              <a:t>Data preprocessing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F7F5F0"/>
          </a:solidFill>
        </p:spPr>
      </p:sp>
      <p:sp>
        <p:nvSpPr>
          <p:cNvPr id="5" name="Shape 3"/>
          <p:cNvSpPr/>
          <p:nvPr/>
        </p:nvSpPr>
        <p:spPr>
          <a:xfrm>
            <a:off x="1417320" y="2011680"/>
            <a:ext cx="777240" cy="77724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912" y="217627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196596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4A98C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971800"/>
            <a:ext cx="205740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4332"/>
                </a:solidFill>
              </a:rPr>
              <a:t>Resize &amp; normalise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77240" y="3611880"/>
            <a:ext cx="2057400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All images standardised to 224×224 px, pixel values rescaled to 0–1 range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173736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F7F5F0"/>
          </a:solidFill>
        </p:spPr>
      </p:sp>
      <p:sp>
        <p:nvSpPr>
          <p:cNvPr id="11" name="Shape 8"/>
          <p:cNvSpPr/>
          <p:nvPr/>
        </p:nvSpPr>
        <p:spPr>
          <a:xfrm>
            <a:off x="4160520" y="2011680"/>
            <a:ext cx="777240" cy="77724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112" y="2176272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29000" y="196596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4A98C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520440" y="2971800"/>
            <a:ext cx="205740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4332"/>
                </a:solidFill>
              </a:rPr>
              <a:t>Augment training data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3520440" y="3611880"/>
            <a:ext cx="2057400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Rotation, shift, zoom, flip applied only to training images, not validation/test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35040" y="173736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F7F5F0"/>
          </a:solidFill>
        </p:spPr>
      </p:sp>
      <p:sp>
        <p:nvSpPr>
          <p:cNvPr id="17" name="Shape 13"/>
          <p:cNvSpPr/>
          <p:nvPr/>
        </p:nvSpPr>
        <p:spPr>
          <a:xfrm>
            <a:off x="6903720" y="2011680"/>
            <a:ext cx="777240" cy="77724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176272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72200" y="196596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4A98C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263640" y="2971800"/>
            <a:ext cx="205740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4332"/>
                </a:solidFill>
              </a:rPr>
              <a:t>Stratified split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6263640" y="3611880"/>
            <a:ext cx="2057400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70% train / 15% val / 15% test, class proportions preserved across all subsets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8778240" y="173736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F7F5F0"/>
          </a:solidFill>
        </p:spPr>
      </p:sp>
      <p:sp>
        <p:nvSpPr>
          <p:cNvPr id="23" name="Shape 18"/>
          <p:cNvSpPr/>
          <p:nvPr/>
        </p:nvSpPr>
        <p:spPr>
          <a:xfrm>
            <a:off x="9646920" y="2011680"/>
            <a:ext cx="777240" cy="77724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1512" y="2176272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915400" y="196596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4A98C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9006840" y="2971800"/>
            <a:ext cx="205740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4332"/>
                </a:solidFill>
              </a:rPr>
              <a:t>Class weighting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9006840" y="3611880"/>
            <a:ext cx="2057400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Weights inversely proportional to class frequency, 0.32 (majority) to 7.96 (minority)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11643055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3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4A98C"/>
                </a:solidFill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</a:rPr>
              <a:t>Three models, one fair comparison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74720" cy="42976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3474720" cy="777240"/>
          </a:xfrm>
          <a:prstGeom prst="rect">
            <a:avLst/>
          </a:prstGeom>
          <a:solidFill>
            <a:srgbClr val="1B4332"/>
          </a:solidFill>
        </p:spPr>
      </p:sp>
      <p:sp>
        <p:nvSpPr>
          <p:cNvPr id="6" name="Text 4"/>
          <p:cNvSpPr/>
          <p:nvPr/>
        </p:nvSpPr>
        <p:spPr>
          <a:xfrm>
            <a:off x="548640" y="1691640"/>
            <a:ext cx="34747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Baseline CNN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301752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</a:rPr>
              <a:t>Built from scratch — 4 conv blocks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749040"/>
            <a:ext cx="3017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4332"/>
                </a:solidFill>
              </a:rPr>
              <a:t>4,962,630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77240" y="4343400"/>
            <a:ext cx="3017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63"/>
                </a:solidFill>
              </a:rPr>
              <a:t>params total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5120640"/>
            <a:ext cx="301752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1A1A1A"/>
                </a:solidFill>
              </a:rPr>
              <a:t>Trained entirely from scratch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51960" y="1691640"/>
            <a:ext cx="3474720" cy="42976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1691640"/>
            <a:ext cx="3474720" cy="777240"/>
          </a:xfrm>
          <a:prstGeom prst="rect">
            <a:avLst/>
          </a:prstGeom>
          <a:solidFill>
            <a:srgbClr val="52796F"/>
          </a:solidFill>
        </p:spPr>
      </p:sp>
      <p:sp>
        <p:nvSpPr>
          <p:cNvPr id="13" name="Text 11"/>
          <p:cNvSpPr/>
          <p:nvPr/>
        </p:nvSpPr>
        <p:spPr>
          <a:xfrm>
            <a:off x="4251960" y="1691640"/>
            <a:ext cx="34747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MobileNetV2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80560" y="2697480"/>
            <a:ext cx="301752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</a:rPr>
              <a:t>Transfer learning — frozen ImageNet backbone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80560" y="3749040"/>
            <a:ext cx="3017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2796F"/>
                </a:solidFill>
              </a:rPr>
              <a:t>164,742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480560" y="4343400"/>
            <a:ext cx="3017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63"/>
                </a:solidFill>
              </a:rPr>
              <a:t>trainable params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80560" y="5120640"/>
            <a:ext cx="301752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1A1A1A"/>
                </a:solidFill>
              </a:rPr>
              <a:t>ImageNet-pretrained, head fine-tuned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955280" y="1691640"/>
            <a:ext cx="3474720" cy="42976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955280" y="1691640"/>
            <a:ext cx="3474720" cy="777240"/>
          </a:xfrm>
          <a:prstGeom prst="rect">
            <a:avLst/>
          </a:prstGeom>
          <a:solidFill>
            <a:srgbClr val="84A98C"/>
          </a:solidFill>
        </p:spPr>
      </p:sp>
      <p:sp>
        <p:nvSpPr>
          <p:cNvPr id="20" name="Text 18"/>
          <p:cNvSpPr/>
          <p:nvPr/>
        </p:nvSpPr>
        <p:spPr>
          <a:xfrm>
            <a:off x="7955280" y="1691640"/>
            <a:ext cx="34747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ResNet50V2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183880" y="2697480"/>
            <a:ext cx="301752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</a:rPr>
              <a:t>Transfer learning — frozen, deeper backbone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83880" y="3749040"/>
            <a:ext cx="3017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4A98C"/>
                </a:solidFill>
              </a:rPr>
              <a:t>263,046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183880" y="4343400"/>
            <a:ext cx="3017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63"/>
                </a:solidFill>
              </a:rPr>
              <a:t>trainable params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183880" y="5120640"/>
            <a:ext cx="301752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1A1A1A"/>
                </a:solidFill>
              </a:rPr>
              <a:t>ImageNet-pretrained, head fine-tuned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643055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3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4A98C"/>
                </a:solidFill>
              </a:rPr>
              <a:t>EXPERIMENTAL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</a:rPr>
              <a:t>Training configuration &amp; evaluation strategy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7F5F0"/>
          </a:solidFill>
        </p:spPr>
      </p:sp>
      <p:sp>
        <p:nvSpPr>
          <p:cNvPr id="5" name="Text 3"/>
          <p:cNvSpPr/>
          <p:nvPr/>
        </p:nvSpPr>
        <p:spPr>
          <a:xfrm>
            <a:off x="868680" y="192024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</a:rPr>
              <a:t>Training setup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868680" y="2377440"/>
          <a:ext cx="4754880" cy="2514600"/>
        </p:xfrm>
        <a:graphic>
          <a:graphicData uri="http://schemas.openxmlformats.org/drawingml/2006/table">
            <a:tbl>
              <a:tblPr/>
              <a:tblGrid>
                <a:gridCol w="1645920"/>
                <a:gridCol w="3108960"/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Optimiser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Adam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Loss function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Categorical cross-entropy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Batch size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Max epochs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30 (early stopping, patience 5)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Checkpointing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Best validation accuracy retained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217920" y="16916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7F5F0"/>
          </a:solidFill>
        </p:spPr>
      </p:sp>
      <p:sp>
        <p:nvSpPr>
          <p:cNvPr id="6" name="Text 5"/>
          <p:cNvSpPr/>
          <p:nvPr/>
        </p:nvSpPr>
        <p:spPr>
          <a:xfrm>
            <a:off x="6537960" y="192024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</a:rPr>
              <a:t>Data split (stratified, seed=42)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/>
        </p:nvGraphicFramePr>
        <p:xfrm>
          <a:off x="6537960" y="2377440"/>
          <a:ext cx="4754880" cy="1828800"/>
        </p:xfrm>
        <a:graphic>
          <a:graphicData uri="http://schemas.openxmlformats.org/drawingml/2006/table">
            <a:tbl>
              <a:tblPr/>
              <a:tblGrid>
                <a:gridCol w="2194560"/>
                <a:gridCol w="1463040"/>
                <a:gridCol w="1097280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Split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Images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%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E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Train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6,495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69.9%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Validation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1,390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15.0%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Test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1,398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15.1%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6537960" y="4572000"/>
            <a:ext cx="484632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1A1A1A"/>
                </a:solidFill>
              </a:rPr>
              <a:t>Why stratified? Preserves the same class proportions across all three subsets — critical given the 25:1 imbalance.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1643055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3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D6CD"/>
                </a:solidFill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Headline results across three models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74720" cy="4206240"/>
          </a:xfrm>
          <a:prstGeom prst="roundRect">
            <a:avLst>
              <a:gd name="adj" fmla="val 2632"/>
            </a:avLst>
          </a:prstGeom>
          <a:solidFill>
            <a:srgbClr val="2D5A45"/>
          </a:solidFill>
        </p:spPr>
      </p:sp>
      <p:sp>
        <p:nvSpPr>
          <p:cNvPr id="5" name="Text 3"/>
          <p:cNvSpPr/>
          <p:nvPr/>
        </p:nvSpPr>
        <p:spPr>
          <a:xfrm>
            <a:off x="731520" y="2331720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Baseline CNN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31089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93.78%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31520" y="379476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E5DC"/>
                </a:solidFill>
              </a:rPr>
              <a:t>Test accuracy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Macro F1: 0.92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51960" y="1783080"/>
            <a:ext cx="3474720" cy="4206240"/>
          </a:xfrm>
          <a:prstGeom prst="roundRect">
            <a:avLst>
              <a:gd name="adj" fmla="val 2632"/>
            </a:avLst>
          </a:prstGeom>
          <a:solidFill>
            <a:srgbClr val="84A98C"/>
          </a:solidFill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201168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434840" y="2606040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MobileNetV2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434840" y="3108960"/>
            <a:ext cx="31089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98.50%</a:t>
            </a:r>
            <a:endParaRPr lang="en-US" sz="4200" dirty="0"/>
          </a:p>
        </p:txBody>
      </p:sp>
      <p:sp>
        <p:nvSpPr>
          <p:cNvPr id="13" name="Text 10"/>
          <p:cNvSpPr/>
          <p:nvPr/>
        </p:nvSpPr>
        <p:spPr>
          <a:xfrm>
            <a:off x="4434840" y="402336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E5DC"/>
                </a:solidFill>
              </a:rPr>
              <a:t>Test accuracy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434840" y="443484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Macro F1: 0.99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434840" y="5394960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AF0EC"/>
                </a:solidFill>
              </a:rPr>
              <a:t>Best overall — final recommendation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955280" y="1783080"/>
            <a:ext cx="3474720" cy="4206240"/>
          </a:xfrm>
          <a:prstGeom prst="roundRect">
            <a:avLst>
              <a:gd name="adj" fmla="val 2632"/>
            </a:avLst>
          </a:prstGeom>
          <a:solidFill>
            <a:srgbClr val="2D5A45"/>
          </a:solidFill>
        </p:spPr>
      </p:sp>
      <p:sp>
        <p:nvSpPr>
          <p:cNvPr id="17" name="Text 14"/>
          <p:cNvSpPr/>
          <p:nvPr/>
        </p:nvSpPr>
        <p:spPr>
          <a:xfrm>
            <a:off x="8138160" y="2331720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ResNet50V2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8138160" y="2880360"/>
            <a:ext cx="31089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98.43%</a:t>
            </a:r>
            <a:endParaRPr lang="en-US" sz="4200" dirty="0"/>
          </a:p>
        </p:txBody>
      </p:sp>
      <p:sp>
        <p:nvSpPr>
          <p:cNvPr id="19" name="Text 16"/>
          <p:cNvSpPr/>
          <p:nvPr/>
        </p:nvSpPr>
        <p:spPr>
          <a:xfrm>
            <a:off x="8138160" y="379476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E5DC"/>
                </a:solidFill>
              </a:rPr>
              <a:t>Test accuracy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138160" y="420624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Macro F1: 0.99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1643055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3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4A98C"/>
                </a:solidFill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1A1A"/>
                </a:solidFill>
              </a:rPr>
              <a:t>MobileNetV2: where the errors actually happen</a:t>
            </a:r>
            <a:endParaRPr lang="en-US" sz="2500" dirty="0"/>
          </a:p>
        </p:txBody>
      </p:sp>
      <p:pic>
        <p:nvPicPr>
          <p:cNvPr id="4" name="Image 0" descr="/home/claude/report_assets/confusion_matrix_mobilenet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48640" y="1600200"/>
            <a:ext cx="6035040" cy="50200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03720" y="1600200"/>
            <a:ext cx="4754880" cy="5020056"/>
          </a:xfrm>
          <a:prstGeom prst="roundRect">
            <a:avLst>
              <a:gd name="adj" fmla="val 1538"/>
            </a:avLst>
          </a:prstGeom>
          <a:solidFill>
            <a:srgbClr val="F7F5F0"/>
          </a:solidFill>
        </p:spPr>
      </p:sp>
      <p:sp>
        <p:nvSpPr>
          <p:cNvPr id="6" name="Text 3"/>
          <p:cNvSpPr/>
          <p:nvPr/>
        </p:nvSpPr>
        <p:spPr>
          <a:xfrm>
            <a:off x="7223760" y="1828800"/>
            <a:ext cx="4206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</a:rPr>
              <a:t>Key observations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2377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26680" y="2359152"/>
            <a:ext cx="374904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</a:rPr>
              <a:t>Leaf Curl, Nutrition Deficiency, and Powdery Mildew — the 3 smallest classes — classified with perfect precision &amp; recall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3429000"/>
            <a:ext cx="365760" cy="3657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726680" y="3410712"/>
            <a:ext cx="374904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</a:rPr>
              <a:t>Bacterial Spot → Healthy: only 5 cases (down from 37 in the baseline CNN, an 86% reduction)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4480560"/>
            <a:ext cx="365760" cy="3657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726680" y="4462272"/>
            <a:ext cx="374904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</a:rPr>
              <a:t>Remaining confusion concentrated between visually similar spot-type diseases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11643055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3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4A98C"/>
                </a:solidFill>
              </a:rPr>
              <a:t>COMPARATIVE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</a:rPr>
              <a:t>Accuracy is similar — efficiency is not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548640" y="1691640"/>
          <a:ext cx="7315200" cy="2377440"/>
        </p:xfrm>
        <a:graphic>
          <a:graphicData uri="http://schemas.openxmlformats.org/drawingml/2006/table">
            <a:tbl>
              <a:tblPr/>
              <a:tblGrid>
                <a:gridCol w="2103120"/>
                <a:gridCol w="1737360"/>
                <a:gridCol w="2011680"/>
                <a:gridCol w="1463040"/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Test Acc.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Trainable Params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Dangerous errors*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Baseline CNN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93.78%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4,961,926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37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MobileNetV2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98.50%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164,742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D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ResNet50V2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98.43%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263,046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11480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63"/>
                </a:solidFill>
              </a:rPr>
              <a:t>*Bacterial Spot misclassified as Healthy — the most agronomically costly error type (missed disease)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183880" y="1691640"/>
            <a:ext cx="3474720" cy="4572000"/>
          </a:xfrm>
          <a:prstGeom prst="roundRect">
            <a:avLst>
              <a:gd name="adj" fmla="val 2632"/>
            </a:avLst>
          </a:prstGeom>
          <a:solidFill>
            <a:srgbClr val="1B4332"/>
          </a:solidFill>
        </p:spPr>
      </p:sp>
      <p:sp>
        <p:nvSpPr>
          <p:cNvPr id="7" name="Text 4"/>
          <p:cNvSpPr/>
          <p:nvPr/>
        </p:nvSpPr>
        <p:spPr>
          <a:xfrm>
            <a:off x="8183880" y="2011680"/>
            <a:ext cx="34747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145×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458200" y="2926080"/>
            <a:ext cx="292608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50" dirty="0">
                <a:solidFill>
                  <a:srgbClr val="D8E5DC"/>
                </a:solidFill>
              </a:rPr>
              <a:t>fewer total parameters in MobileNetV2 vs ResNet50V2 — for nearly identical accuracy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595360" y="4251960"/>
            <a:ext cx="2834640" cy="0"/>
          </a:xfrm>
          <a:prstGeom prst="line">
            <a:avLst/>
          </a:prstGeom>
          <a:noFill/>
          <a:ln w="12700">
            <a:solidFill>
              <a:srgbClr val="84A98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58200" y="4434840"/>
            <a:ext cx="2926080" cy="1554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FFFFFF"/>
                </a:solidFill>
              </a:rPr>
              <a:t>Makes MobileNetV2 the practical choice for edge / mobile greenhouse deployment</a:t>
            </a:r>
            <a:endParaRPr lang="en-US" sz="1300" dirty="0"/>
          </a:p>
        </p:txBody>
      </p:sp>
      <p:sp>
        <p:nvSpPr>
          <p:cNvPr id="4" name="Text 8"/>
          <p:cNvSpPr/>
          <p:nvPr/>
        </p:nvSpPr>
        <p:spPr>
          <a:xfrm>
            <a:off x="11643055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3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4A98C"/>
                </a:solidFill>
              </a:rPr>
              <a:t>HYPERPARAMETER TUNING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</a:rPr>
              <a:t>Fine-tuning was tested — and rejected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120640" cy="4206240"/>
          </a:xfrm>
          <a:prstGeom prst="roundRect">
            <a:avLst>
              <a:gd name="adj" fmla="val 1739"/>
            </a:avLst>
          </a:prstGeom>
          <a:solidFill>
            <a:srgbClr val="F7F5F0"/>
          </a:solidFill>
        </p:spPr>
      </p:sp>
      <p:sp>
        <p:nvSpPr>
          <p:cNvPr id="5" name="Text 3"/>
          <p:cNvSpPr/>
          <p:nvPr/>
        </p:nvSpPr>
        <p:spPr>
          <a:xfrm>
            <a:off x="868680" y="196596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</a:rPr>
              <a:t>What we tried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4572000" cy="2011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</a:rPr>
              <a:t>Unfroze the final 20 of 154 MobileNetV2 layers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</a:rPr>
              <a:t>Reduced learning rate 100× (1×10⁻⁵) per fine-tuning best practice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</a:rPr>
              <a:t>Retrained for up to 15 additional epochs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68680" y="4572000"/>
            <a:ext cx="4434840" cy="1188720"/>
          </a:xfrm>
          <a:prstGeom prst="rect">
            <a:avLst/>
          </a:prstGeom>
          <a:solidFill>
            <a:srgbClr val="FBEAE5"/>
          </a:solidFill>
        </p:spPr>
      </p:sp>
      <p:sp>
        <p:nvSpPr>
          <p:cNvPr id="8" name="Text 6"/>
          <p:cNvSpPr/>
          <p:nvPr/>
        </p:nvSpPr>
        <p:spPr>
          <a:xfrm>
            <a:off x="1051560" y="4663440"/>
            <a:ext cx="41148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8A3A2A"/>
                </a:solidFill>
              </a:rPr>
              <a:t>Result: best epoch was epoch 1 (97.27% val. acc.), then declined — test accuracy fell to 97.00%, below the frozen baseline's 98.50%.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0" y="1737360"/>
            <a:ext cx="5669280" cy="4206240"/>
          </a:xfrm>
          <a:prstGeom prst="roundRect">
            <a:avLst>
              <a:gd name="adj" fmla="val 1739"/>
            </a:avLst>
          </a:prstGeom>
          <a:solidFill>
            <a:srgbClr val="1B4332"/>
          </a:solidFill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96596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12280" y="1993392"/>
            <a:ext cx="4572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Why this is a valid finding, not a failure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263640" y="2651760"/>
            <a:ext cx="5074920" cy="3108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E5EDE8"/>
                </a:solidFill>
              </a:rPr>
              <a:t>Frozen ImageNet features already generalise well to leaf imagery — little room left for fine-tuning to add value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E5EDE8"/>
                </a:solidFill>
              </a:rPr>
              <a:t>6,495 training images is modest relative to the newly unfrozen parameters — raising overfitting risk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E5EDE8"/>
                </a:solidFill>
              </a:rPr>
              <a:t>Demonstrates that optimisation techniques must be empirically validated, not assumed to help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643055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3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4A98C"/>
                </a:solidFill>
              </a:rPr>
              <a:t>KEY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</a:rPr>
              <a:t>What this project demonstrates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640080" cy="640080"/>
          </a:xfrm>
          <a:prstGeom prst="ellipse">
            <a:avLst/>
          </a:prstGeom>
          <a:solidFill>
            <a:srgbClr val="F7F5F0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17627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93392"/>
            <a:ext cx="397764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B4332"/>
                </a:solidFill>
              </a:rPr>
              <a:t>Transfer learning wins decisively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645920" y="2606040"/>
            <a:ext cx="397764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</a:rPr>
              <a:t>+4.7pp accuracy and far more stable training than learning from scratch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080760" y="173736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55080" y="2011680"/>
            <a:ext cx="640080" cy="640080"/>
          </a:xfrm>
          <a:prstGeom prst="ellipse">
            <a:avLst/>
          </a:prstGeom>
          <a:solidFill>
            <a:srgbClr val="F7F5F0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217627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993392"/>
            <a:ext cx="397764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B4332"/>
                </a:solidFill>
              </a:rPr>
              <a:t>Class weighting handles severe imbalance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178040" y="2606040"/>
            <a:ext cx="397764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</a:rPr>
              <a:t>Minority classes (Powdery Mildew, Leaf Curl) reach perfect F1 despite &lt;5% representation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06908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343400"/>
            <a:ext cx="640080" cy="640080"/>
          </a:xfrm>
          <a:prstGeom prst="ellipse">
            <a:avLst/>
          </a:prstGeom>
          <a:solidFill>
            <a:srgbClr val="F7F5F0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50799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325112"/>
            <a:ext cx="397764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B4332"/>
                </a:solidFill>
              </a:rPr>
              <a:t>Efficiency can match depth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645920" y="4937760"/>
            <a:ext cx="397764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</a:rPr>
              <a:t>MobileNetV2 matches ResNet50V2's accuracy with 145× fewer parameters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080760" y="406908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55080" y="4343400"/>
            <a:ext cx="640080" cy="640080"/>
          </a:xfrm>
          <a:prstGeom prst="ellipse">
            <a:avLst/>
          </a:prstGeom>
          <a:solidFill>
            <a:srgbClr val="F7F5F0"/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4507992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4325112"/>
            <a:ext cx="397764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B4332"/>
                </a:solidFill>
              </a:rPr>
              <a:t>Not every optimisation helps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178040" y="4937760"/>
            <a:ext cx="397764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</a:rPr>
              <a:t>Fine-tuning underperformed the frozen model — a documented, deliberate finding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643055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3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4A98C"/>
                </a:solidFill>
              </a:rPr>
              <a:t>CHALLENGES &amp; LESSONS LEARNED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</a:rPr>
              <a:t>Limitations worth being upfront about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303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</a:rPr>
              <a:t>Dataset limitations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303520" cy="2743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</a:rPr>
              <a:t>Severe 25:1 class imbalance remains a structural dataset limitation despite mitigation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</a:rPr>
              <a:t>Images captured under varied, uncontrolled backgrounds and lighting conditions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</a:rPr>
              <a:t>Single-label assumption — real leaves may show co-occurring conditions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309360" y="1737360"/>
            <a:ext cx="5303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</a:rPr>
              <a:t>Methodological limitations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09360" y="2194560"/>
            <a:ext cx="5303520" cy="2743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</a:rPr>
              <a:t>Single train/test split used rather than k-fold cross-validation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</a:rPr>
              <a:t>Hyperparameter search limited to one fine-tuning strategy, not exhaustive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</a:rPr>
              <a:t>Best used as a decision-support aid, not a fully autonomous replacement for expert judgement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080760" y="1737360"/>
            <a:ext cx="0" cy="4206240"/>
          </a:xfrm>
          <a:prstGeom prst="line">
            <a:avLst/>
          </a:prstGeom>
          <a:noFill/>
          <a:ln w="12700">
            <a:solidFill>
              <a:srgbClr val="D8D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643055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3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D6CD"/>
                </a:solidFill>
              </a:rPr>
              <a:t>CONCLUSION &amp; FUTURE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MobileNetV2 delivers accurate, deployable disease detection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2D5A45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2084832"/>
            <a:ext cx="4114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Final recommendation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8680" y="2697480"/>
            <a:ext cx="4754880" cy="1554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DE8"/>
                </a:solidFill>
              </a:rPr>
              <a:t>Frozen MobileNetV2 achieves 98.50% test accuracy and 0.99 macro F1, the fewest dangerous misclassifications, and a parameter count suited to edge deployment on greenhouse monitoring hardware.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68680" y="4434840"/>
            <a:ext cx="4754880" cy="0"/>
          </a:xfrm>
          <a:prstGeom prst="line">
            <a:avLst/>
          </a:prstGeom>
          <a:noFill/>
          <a:ln w="12700">
            <a:solidFill>
              <a:srgbClr val="84A98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4617720"/>
            <a:ext cx="475488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84A98C"/>
                </a:solidFill>
              </a:rPr>
              <a:t>98.50% test accuracy · 0.99 macro F1 · 164,742 trainable params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63640" y="182880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</p:spPr>
      </p:sp>
      <p:sp>
        <p:nvSpPr>
          <p:cNvPr id="11" name="Text 8"/>
          <p:cNvSpPr/>
          <p:nvPr/>
        </p:nvSpPr>
        <p:spPr>
          <a:xfrm>
            <a:off x="6583680" y="2057400"/>
            <a:ext cx="4754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</a:rPr>
              <a:t>Future work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583680" y="2560320"/>
            <a:ext cx="484632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</a:rPr>
              <a:t>K-fold cross-validation for more robust minority-class estimates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</a:rPr>
              <a:t>Collect additional Powdery Mildew &amp; Leaf Curl images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</a:rPr>
              <a:t>Mobile-optimised conversion (e.g. TensorFlow Lite) for real deployment testing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</a:rPr>
              <a:t>Multi-label framing to capture co-occurring conditions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1643055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3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802005" y="601345"/>
            <a:ext cx="9562465" cy="5786120"/>
          </a:xfrm>
          <a:prstGeom prst="rect">
            <a:avLst/>
          </a:prstGeom>
        </p:spPr>
        <p:txBody>
          <a:bodyPr wrap="square">
            <a:noAutofit/>
          </a:bodyPr>
          <a:p>
            <a:pPr defTabSz="266700">
              <a:spcBef>
                <a:spcPts val="1800"/>
              </a:spcBef>
              <a:spcAft>
                <a:spcPts val="1100"/>
              </a:spcAft>
            </a:pPr>
            <a:r>
              <a:rPr lang="en-US" altLang="zh-CN" sz="1600" b="1">
                <a:solidFill>
                  <a:srgbClr val="1F3864"/>
                </a:solidFill>
                <a:latin typeface="Times New Roman" panose="02020603050405020304"/>
                <a:ea typeface="Calibri" panose="020F0502020204030204"/>
              </a:rPr>
              <a:t> </a:t>
            </a:r>
            <a:endParaRPr lang="en-US" altLang="zh-CN" sz="1600" b="1">
              <a:solidFill>
                <a:srgbClr val="1F3864"/>
              </a:solidFill>
              <a:latin typeface="Times New Roman" panose="02020603050405020304"/>
              <a:ea typeface="Calibri" panose="020F0502020204030204"/>
            </a:endParaRPr>
          </a:p>
          <a:p>
            <a:pPr defTabSz="266700">
              <a:spcBef>
                <a:spcPts val="1800"/>
              </a:spcBef>
              <a:spcAft>
                <a:spcPts val="1100"/>
              </a:spcAft>
            </a:pPr>
            <a:r>
              <a:rPr lang="en-US" altLang="zh-CN" sz="1600" b="1">
                <a:solidFill>
                  <a:schemeClr val="accent1"/>
                </a:solidFill>
                <a:latin typeface="Times New Roman" panose="02020603050405020304"/>
                <a:ea typeface="Calibri" panose="020F0502020204030204"/>
              </a:rPr>
              <a:t>References</a:t>
            </a:r>
            <a:endParaRPr lang="en-US" altLang="zh-CN" sz="1600" b="1">
              <a:solidFill>
                <a:schemeClr val="accent1"/>
              </a:solidFill>
              <a:latin typeface="Times New Roman" panose="02020603050405020304"/>
              <a:ea typeface="Calibri" panose="020F0502020204030204"/>
            </a:endParaRPr>
          </a:p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ts val="800"/>
              </a:spcAft>
              <a:buFont typeface="Wingdings" panose="05000000000000000000" charset="0"/>
              <a:buChar char="v"/>
            </a:pPr>
            <a:r>
              <a:rPr lang="en-US" altLang="zh-CN" sz="1600" b="0" i="0">
                <a:latin typeface="Times New Roman" panose="02020603050405020304"/>
                <a:ea typeface="Calibri" panose="020F0502020204030204"/>
              </a:rPr>
              <a:t>Elvsava, R. (2026). Pepper Bell Leaf Disease [Data set]. Mendeley Data, V1. https://doi.org/10.17632/w9drvtxg9g.1</a:t>
            </a:r>
            <a:endParaRPr lang="en-US" altLang="zh-CN" sz="1600" b="0" i="0">
              <a:latin typeface="Times New Roman" panose="02020603050405020304"/>
              <a:ea typeface="Calibri" panose="020F0502020204030204"/>
            </a:endParaRPr>
          </a:p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ts val="800"/>
              </a:spcAft>
              <a:buFont typeface="Wingdings" panose="05000000000000000000" charset="0"/>
              <a:buChar char="v"/>
            </a:pPr>
            <a:r>
              <a:rPr lang="en-US" altLang="zh-CN" sz="1600" b="0" i="0">
                <a:latin typeface="Times New Roman" panose="02020603050405020304"/>
                <a:ea typeface="Calibri" panose="020F0502020204030204"/>
              </a:rPr>
              <a:t>Howard, A. G., Zhu, M., Chen, B., Kalenichenko, D., Wang, W., Weyand, T., Andreetto, M., &amp; Adam, H. (2017). MobileNets: Efficient convolutional neural networks for mobile vision applications. arXiv preprint arXiv:1704.04861.</a:t>
            </a:r>
            <a:endParaRPr lang="en-US" altLang="zh-CN" sz="1600" b="0" i="0">
              <a:latin typeface="Times New Roman" panose="02020603050405020304"/>
              <a:ea typeface="Calibri" panose="020F0502020204030204"/>
            </a:endParaRPr>
          </a:p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ts val="800"/>
              </a:spcAft>
              <a:buFont typeface="Wingdings" panose="05000000000000000000" charset="0"/>
              <a:buChar char="v"/>
            </a:pPr>
            <a:r>
              <a:rPr lang="en-US" altLang="zh-CN" sz="1600" b="0" i="0">
                <a:latin typeface="Times New Roman" panose="02020603050405020304"/>
                <a:ea typeface="Calibri" panose="020F0502020204030204"/>
              </a:rPr>
              <a:t>He, K., Zhang, X., Ren, S., &amp; Sun, J. (2016). Identity mappings in deep residual networks (ResNet50V2). In European Conference on Computer Vision (ECCV).</a:t>
            </a:r>
            <a:endParaRPr lang="en-US" altLang="zh-CN" sz="1600" b="0" i="0">
              <a:latin typeface="Times New Roman" panose="02020603050405020304"/>
              <a:ea typeface="Calibri" panose="020F0502020204030204"/>
            </a:endParaRPr>
          </a:p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ts val="800"/>
              </a:spcAft>
              <a:buFont typeface="Wingdings" panose="05000000000000000000" charset="0"/>
              <a:buChar char="v"/>
            </a:pPr>
            <a:r>
              <a:rPr lang="en-US" altLang="zh-CN" sz="1600" b="0" i="0">
                <a:latin typeface="Times New Roman" panose="02020603050405020304"/>
                <a:ea typeface="Calibri" panose="020F0502020204030204"/>
              </a:rPr>
              <a:t>Pedregosa, F., et al. (2011). Scikit-learn: Machine learning in Python. Journal of Machine Learning Research, 12, 2825–2830.</a:t>
            </a:r>
            <a:endParaRPr lang="en-US" altLang="zh-CN" sz="1600" b="0" i="0">
              <a:latin typeface="Times New Roman" panose="02020603050405020304"/>
              <a:ea typeface="Calibri" panose="020F0502020204030204"/>
            </a:endParaRPr>
          </a:p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ts val="800"/>
              </a:spcAft>
              <a:buFont typeface="Wingdings" panose="05000000000000000000" charset="0"/>
              <a:buChar char="v"/>
            </a:pPr>
            <a:r>
              <a:rPr lang="en-US" altLang="zh-CN" sz="1600" b="0" i="0">
                <a:latin typeface="Times New Roman" panose="02020603050405020304"/>
                <a:ea typeface="Calibri" panose="020F0502020204030204"/>
              </a:rPr>
              <a:t>Abadi, M., et al. (2015). TensorFlow: Large-scale machine learning on heterogeneous systems. https://www.tensorflow.org/</a:t>
            </a:r>
            <a:endParaRPr lang="en-US" altLang="zh-CN" sz="1600" b="0" i="0">
              <a:latin typeface="Times New Roman" panose="02020603050405020304"/>
              <a:ea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6671</Words>
  <Application>WPS Presentation</Application>
  <PresentationFormat>On-screen Show (16:9)</PresentationFormat>
  <Paragraphs>380</Paragraphs>
  <Slides>15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Arial</vt:lpstr>
      <vt:lpstr>SimSun</vt:lpstr>
      <vt:lpstr>Wingdings</vt:lpstr>
      <vt:lpstr>Calibri</vt:lpstr>
      <vt:lpstr>Microsoft YaHei</vt:lpstr>
      <vt:lpstr>Arial Unicode MS</vt:lpstr>
      <vt:lpstr>Times New Roman</vt:lpstr>
      <vt:lpstr>Times New Roman</vt:lpstr>
      <vt:lpstr>Calibri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Pepper Bell Leaf Disease Classification</dc:title>
  <dc:creator>Student</dc:creator>
  <dc:subject>PptxGenJS Presentation</dc:subject>
  <cp:lastModifiedBy>Kafilat Musa</cp:lastModifiedBy>
  <cp:revision>2</cp:revision>
  <dcterms:created xsi:type="dcterms:W3CDTF">2026-06-17T11:16:00Z</dcterms:created>
  <dcterms:modified xsi:type="dcterms:W3CDTF">2026-06-18T12:16:57Z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7B76B3D7AB0D441592B30A9697326BA9_12</vt:lpwstr>
  </property>
  <property fmtid="{D5CDD505-2E9C-101B-9397-08002B2CF9AE}" pid="3" name="KSOProductBuildVer">
    <vt:lpwstr>2057-12.2.0.23202</vt:lpwstr>
  </property>
</Properties>
</file>